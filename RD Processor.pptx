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5" r:id="rId32"/>
    <p:sldId id="287" r:id="rId33"/>
    <p:sldId id="288"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1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3/4/2017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3/4/2017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3/4/2017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Design of processor</a:t>
            </a:r>
            <a:endParaRPr lang="en-US" dirty="0"/>
          </a:p>
        </p:txBody>
      </p:sp>
      <p:sp>
        <p:nvSpPr>
          <p:cNvPr id="3" name="Subtitle 2"/>
          <p:cNvSpPr>
            <a:spLocks noGrp="1"/>
          </p:cNvSpPr>
          <p:nvPr>
            <p:ph type="subTitle" idx="1"/>
          </p:nvPr>
        </p:nvSpPr>
        <p:spPr/>
        <p:txBody>
          <a:bodyPr/>
          <a:lstStyle/>
          <a:p>
            <a:r>
              <a:rPr lang="en-US" dirty="0" smtClean="0"/>
              <a:t>Made by DVIVEDI ROHAN VIPULKUMAR</a:t>
            </a:r>
          </a:p>
          <a:p>
            <a:r>
              <a:rPr lang="en-US" dirty="0" smtClean="0"/>
              <a:t>2014A4PS456H</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Request </a:t>
            </a:r>
            <a:endParaRPr lang="en-US" dirty="0"/>
          </a:p>
        </p:txBody>
      </p:sp>
      <p:sp>
        <p:nvSpPr>
          <p:cNvPr id="3" name="Content Placeholder 2"/>
          <p:cNvSpPr>
            <a:spLocks noGrp="1"/>
          </p:cNvSpPr>
          <p:nvPr>
            <p:ph idx="1"/>
          </p:nvPr>
        </p:nvSpPr>
        <p:spPr/>
        <p:txBody>
          <a:bodyPr/>
          <a:lstStyle/>
          <a:p>
            <a:r>
              <a:rPr lang="en-US" dirty="0" smtClean="0"/>
              <a:t>Please Keep the block diagram image </a:t>
            </a:r>
            <a:r>
              <a:rPr lang="en-US" smtClean="0"/>
              <a:t>of processor </a:t>
            </a:r>
            <a:r>
              <a:rPr lang="en-US" dirty="0" smtClean="0"/>
              <a:t>side by side while going through </a:t>
            </a:r>
            <a:r>
              <a:rPr lang="en-US" smtClean="0"/>
              <a:t>the presentation.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a:t>
            </a:r>
            <a:endParaRPr lang="en-US" dirty="0"/>
          </a:p>
        </p:txBody>
      </p:sp>
      <p:sp>
        <p:nvSpPr>
          <p:cNvPr id="3" name="Content Placeholder 2"/>
          <p:cNvSpPr>
            <a:spLocks noGrp="1"/>
          </p:cNvSpPr>
          <p:nvPr>
            <p:ph idx="1"/>
          </p:nvPr>
        </p:nvSpPr>
        <p:spPr/>
        <p:txBody>
          <a:bodyPr/>
          <a:lstStyle/>
          <a:p>
            <a:r>
              <a:rPr lang="en-US" dirty="0" smtClean="0"/>
              <a:t>The processor has only one internal Data bus</a:t>
            </a:r>
          </a:p>
          <a:p>
            <a:r>
              <a:rPr lang="en-US" dirty="0" smtClean="0"/>
              <a:t>No separate BUS interface unit</a:t>
            </a:r>
          </a:p>
          <a:p>
            <a:r>
              <a:rPr lang="en-US" dirty="0" smtClean="0"/>
              <a:t>No pipelining can be carried out.</a:t>
            </a:r>
          </a:p>
          <a:p>
            <a:r>
              <a:rPr lang="en-US" dirty="0" smtClean="0"/>
              <a:t>Microcode execution is constant 5 pulse </a:t>
            </a:r>
            <a:r>
              <a:rPr lang="en-US" dirty="0" err="1" smtClean="0"/>
              <a:t>multicycle</a:t>
            </a:r>
            <a:r>
              <a:rPr lang="en-US" dirty="0" smtClean="0"/>
              <a:t> type.</a:t>
            </a:r>
          </a:p>
          <a:p>
            <a:r>
              <a:rPr lang="en-US" dirty="0" smtClean="0"/>
              <a:t>Macrocode (code processing after there is Proper microcode to emulate an instruction set)  will be of </a:t>
            </a:r>
            <a:r>
              <a:rPr lang="en-US" dirty="0" err="1" smtClean="0"/>
              <a:t>multicycle</a:t>
            </a:r>
            <a:r>
              <a:rPr lang="en-US" dirty="0" smtClean="0"/>
              <a:t> type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a:t>
            </a:r>
            <a:endParaRPr lang="en-US" dirty="0"/>
          </a:p>
        </p:txBody>
      </p:sp>
      <p:sp>
        <p:nvSpPr>
          <p:cNvPr id="3" name="Content Placeholder 2"/>
          <p:cNvSpPr>
            <a:spLocks noGrp="1"/>
          </p:cNvSpPr>
          <p:nvPr>
            <p:ph idx="1"/>
          </p:nvPr>
        </p:nvSpPr>
        <p:spPr/>
        <p:txBody>
          <a:bodyPr/>
          <a:lstStyle/>
          <a:p>
            <a:r>
              <a:rPr lang="en-US" dirty="0" smtClean="0"/>
              <a:t>It is a </a:t>
            </a:r>
            <a:r>
              <a:rPr lang="en-US" dirty="0" err="1" smtClean="0"/>
              <a:t>Microcoded</a:t>
            </a:r>
            <a:r>
              <a:rPr lang="en-US" dirty="0" smtClean="0"/>
              <a:t> processor as most present day processors.</a:t>
            </a:r>
          </a:p>
          <a:p>
            <a:r>
              <a:rPr lang="en-US" dirty="0" smtClean="0"/>
              <a:t>It uses vertical encoded </a:t>
            </a:r>
            <a:r>
              <a:rPr lang="en-US" dirty="0" err="1" smtClean="0"/>
              <a:t>microcoding</a:t>
            </a:r>
            <a:r>
              <a:rPr lang="en-US" dirty="0" smtClean="0"/>
              <a:t> pattern</a:t>
            </a:r>
            <a:br>
              <a:rPr lang="en-US" dirty="0" smtClean="0"/>
            </a:br>
            <a:r>
              <a:rPr lang="en-US" dirty="0" smtClean="0"/>
              <a:t>each microcode is only 16 bits wide. Stored in a ROM with address bus width of 11 bits and data width of 8 bits.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a:t>
            </a:r>
            <a:endParaRPr lang="en-US" dirty="0"/>
          </a:p>
        </p:txBody>
      </p:sp>
      <p:sp>
        <p:nvSpPr>
          <p:cNvPr id="3" name="Content Placeholder 2"/>
          <p:cNvSpPr>
            <a:spLocks noGrp="1"/>
          </p:cNvSpPr>
          <p:nvPr>
            <p:ph idx="1"/>
          </p:nvPr>
        </p:nvSpPr>
        <p:spPr/>
        <p:txBody>
          <a:bodyPr/>
          <a:lstStyle/>
          <a:p>
            <a:pPr>
              <a:buNone/>
            </a:pPr>
            <a:r>
              <a:rPr lang="en-US" dirty="0" smtClean="0"/>
              <a:t>It is a</a:t>
            </a:r>
            <a:br>
              <a:rPr lang="en-US" dirty="0" smtClean="0"/>
            </a:br>
            <a:r>
              <a:rPr lang="en-US" dirty="0" smtClean="0"/>
              <a:t/>
            </a:r>
            <a:br>
              <a:rPr lang="en-US" dirty="0" smtClean="0"/>
            </a:br>
            <a:r>
              <a:rPr lang="en-US" dirty="0" smtClean="0"/>
              <a:t>8 bit , single bus , </a:t>
            </a:r>
            <a:r>
              <a:rPr lang="en-US" dirty="0" err="1" smtClean="0"/>
              <a:t>multicycle</a:t>
            </a:r>
            <a:r>
              <a:rPr lang="en-US" dirty="0" smtClean="0"/>
              <a:t> , vertical micro coded processor design.</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Modules</a:t>
            </a:r>
            <a:endParaRPr lang="en-US" dirty="0"/>
          </a:p>
        </p:txBody>
      </p:sp>
      <p:sp>
        <p:nvSpPr>
          <p:cNvPr id="3" name="Content Placeholder 2"/>
          <p:cNvSpPr>
            <a:spLocks noGrp="1"/>
          </p:cNvSpPr>
          <p:nvPr>
            <p:ph idx="1"/>
          </p:nvPr>
        </p:nvSpPr>
        <p:spPr/>
        <p:txBody>
          <a:bodyPr/>
          <a:lstStyle/>
          <a:p>
            <a:r>
              <a:rPr lang="en-US" dirty="0" smtClean="0"/>
              <a:t>Microcode counter</a:t>
            </a:r>
          </a:p>
          <a:p>
            <a:r>
              <a:rPr lang="en-US" dirty="0" smtClean="0"/>
              <a:t>Microcode ROM</a:t>
            </a:r>
          </a:p>
          <a:p>
            <a:r>
              <a:rPr lang="en-US" dirty="0" smtClean="0"/>
              <a:t>Microcode Decoder unit</a:t>
            </a:r>
          </a:p>
          <a:p>
            <a:r>
              <a:rPr lang="en-US" dirty="0" smtClean="0"/>
              <a:t>Microcode Sequencer</a:t>
            </a:r>
          </a:p>
          <a:p>
            <a:r>
              <a:rPr lang="en-US" dirty="0" smtClean="0"/>
              <a:t>Register file</a:t>
            </a:r>
          </a:p>
          <a:p>
            <a:r>
              <a:rPr lang="en-US" dirty="0" smtClean="0"/>
              <a:t>ALU</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Microcode counter</a:t>
            </a:r>
            <a:endParaRPr lang="en-US" dirty="0"/>
          </a:p>
        </p:txBody>
      </p:sp>
      <p:sp>
        <p:nvSpPr>
          <p:cNvPr id="3" name="Content Placeholder 2"/>
          <p:cNvSpPr>
            <a:spLocks noGrp="1"/>
          </p:cNvSpPr>
          <p:nvPr>
            <p:ph idx="1"/>
          </p:nvPr>
        </p:nvSpPr>
        <p:spPr/>
        <p:txBody>
          <a:bodyPr/>
          <a:lstStyle/>
          <a:p>
            <a:r>
              <a:rPr lang="en-US" dirty="0" smtClean="0"/>
              <a:t>Composed of 3 4 bit </a:t>
            </a:r>
            <a:r>
              <a:rPr lang="en-US" dirty="0" err="1" smtClean="0"/>
              <a:t>synchrous</a:t>
            </a:r>
            <a:r>
              <a:rPr lang="en-US" dirty="0" smtClean="0"/>
              <a:t> counter ICs CD4029</a:t>
            </a:r>
          </a:p>
          <a:p>
            <a:r>
              <a:rPr lang="en-US" dirty="0" smtClean="0"/>
              <a:t>Signals to module :</a:t>
            </a:r>
          </a:p>
          <a:p>
            <a:pPr lvl="1"/>
            <a:r>
              <a:rPr lang="en-US" dirty="0" smtClean="0"/>
              <a:t>Preset enable for jump</a:t>
            </a:r>
          </a:p>
          <a:p>
            <a:pPr lvl="1"/>
            <a:r>
              <a:rPr lang="en-US" dirty="0" smtClean="0"/>
              <a:t>Clock to increase the address by value 1</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Microcode ROM</a:t>
            </a:r>
            <a:endParaRPr lang="en-US" dirty="0"/>
          </a:p>
        </p:txBody>
      </p:sp>
      <p:sp>
        <p:nvSpPr>
          <p:cNvPr id="3" name="Content Placeholder 2"/>
          <p:cNvSpPr>
            <a:spLocks noGrp="1"/>
          </p:cNvSpPr>
          <p:nvPr>
            <p:ph idx="1"/>
          </p:nvPr>
        </p:nvSpPr>
        <p:spPr/>
        <p:txBody>
          <a:bodyPr/>
          <a:lstStyle/>
          <a:p>
            <a:r>
              <a:rPr lang="en-US" dirty="0" smtClean="0"/>
              <a:t>The microcode in the ROM (can &amp; will) consists of BIOS, an interpreter for instruction execution.</a:t>
            </a:r>
          </a:p>
          <a:p>
            <a:r>
              <a:rPr lang="en-US" dirty="0" smtClean="0"/>
              <a:t>There is 11 bit address and 8 bit data width </a:t>
            </a:r>
          </a:p>
          <a:p>
            <a:r>
              <a:rPr lang="en-US" dirty="0" smtClean="0"/>
              <a:t>Presently Atmel AT28c16 EEPROM is being used.</a:t>
            </a:r>
          </a:p>
          <a:p>
            <a:r>
              <a:rPr lang="en-US" dirty="0" smtClean="0"/>
              <a:t>There is no instruction interpreter currently present on the ROM</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Microcode Decoder unit</a:t>
            </a:r>
            <a:endParaRPr lang="en-US" dirty="0"/>
          </a:p>
        </p:txBody>
      </p:sp>
      <p:sp>
        <p:nvSpPr>
          <p:cNvPr id="3" name="Content Placeholder 2"/>
          <p:cNvSpPr>
            <a:spLocks noGrp="1"/>
          </p:cNvSpPr>
          <p:nvPr>
            <p:ph idx="1"/>
          </p:nvPr>
        </p:nvSpPr>
        <p:spPr/>
        <p:txBody>
          <a:bodyPr/>
          <a:lstStyle/>
          <a:p>
            <a:r>
              <a:rPr lang="en-US" dirty="0" smtClean="0"/>
              <a:t>2 bytes after they are fetched from the ROM form a microcode.</a:t>
            </a:r>
          </a:p>
          <a:p>
            <a:r>
              <a:rPr lang="en-US" dirty="0" smtClean="0"/>
              <a:t>Byte with even address is responsible to let some data (either from registers or immediate) to be made available for writing to some register , or to execute a jump to that corresponding address as available on internal data bus.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Microcode Decoder unit</a:t>
            </a:r>
            <a:endParaRPr lang="en-US" dirty="0"/>
          </a:p>
        </p:txBody>
      </p:sp>
      <p:sp>
        <p:nvSpPr>
          <p:cNvPr id="3" name="Content Placeholder 2"/>
          <p:cNvSpPr>
            <a:spLocks noGrp="1"/>
          </p:cNvSpPr>
          <p:nvPr>
            <p:ph idx="1"/>
          </p:nvPr>
        </p:nvSpPr>
        <p:spPr/>
        <p:txBody>
          <a:bodyPr>
            <a:normAutofit lnSpcReduction="10000"/>
          </a:bodyPr>
          <a:lstStyle/>
          <a:p>
            <a:r>
              <a:rPr lang="en-US" dirty="0" smtClean="0"/>
              <a:t>Every odd data is responsible to latch the data available on the bus to any of the register,  or to the CONDBIT (conditional bit) or to the jump BIT(JUMPBIT is present in Microcode sequencer).</a:t>
            </a:r>
          </a:p>
          <a:p>
            <a:r>
              <a:rPr lang="en-US" dirty="0" smtClean="0"/>
              <a:t>The CONDBIT is a single bit register which stores a 1 or 0 that can be used to make a conditional jump by setting the JUMPBIT in register.</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Microcode Sequencer</a:t>
            </a:r>
            <a:endParaRPr lang="en-US" dirty="0"/>
          </a:p>
        </p:txBody>
      </p:sp>
      <p:sp>
        <p:nvSpPr>
          <p:cNvPr id="3" name="Content Placeholder 2"/>
          <p:cNvSpPr>
            <a:spLocks noGrp="1"/>
          </p:cNvSpPr>
          <p:nvPr>
            <p:ph idx="1"/>
          </p:nvPr>
        </p:nvSpPr>
        <p:spPr/>
        <p:txBody>
          <a:bodyPr>
            <a:normAutofit lnSpcReduction="10000"/>
          </a:bodyPr>
          <a:lstStyle/>
          <a:p>
            <a:r>
              <a:rPr lang="en-US" dirty="0" smtClean="0"/>
              <a:t>It is responsible for generating sequences for fetching even byte, odd byte , clocking the counter, and execution of microcode.</a:t>
            </a:r>
          </a:p>
          <a:p>
            <a:r>
              <a:rPr lang="en-US" dirty="0" smtClean="0"/>
              <a:t>Presently the Microcode Sequencer uses exactly 5 pulses to different modules for execution of one instruction, There is no pipelining in the microcode execution, It can be brought by redesigning microcode sequencer</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 file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It consists of 14 registers (that can be used as GPR or SPR depending on Microcode)</a:t>
            </a:r>
          </a:p>
          <a:p>
            <a:r>
              <a:rPr lang="en-US" dirty="0" smtClean="0"/>
              <a:t>There are 4 registers for bus control</a:t>
            </a:r>
          </a:p>
          <a:p>
            <a:pPr lvl="1"/>
            <a:r>
              <a:rPr lang="en-US" dirty="0" smtClean="0"/>
              <a:t>1 MARH </a:t>
            </a:r>
            <a:r>
              <a:rPr lang="en-US" dirty="0" smtClean="0">
                <a:sym typeface="Wingdings" pitchFamily="2" charset="2"/>
              </a:rPr>
              <a:t> Memory address register high</a:t>
            </a:r>
          </a:p>
          <a:p>
            <a:pPr lvl="1"/>
            <a:r>
              <a:rPr lang="en-US" dirty="0" smtClean="0">
                <a:sym typeface="Wingdings" pitchFamily="2" charset="2"/>
              </a:rPr>
              <a:t>2 MARL  Memory address register low</a:t>
            </a:r>
          </a:p>
          <a:p>
            <a:pPr lvl="1"/>
            <a:r>
              <a:rPr lang="en-US" dirty="0" smtClean="0">
                <a:sym typeface="Wingdings" pitchFamily="2" charset="2"/>
              </a:rPr>
              <a:t>3 CR  Control Register</a:t>
            </a:r>
          </a:p>
          <a:p>
            <a:pPr lvl="1"/>
            <a:r>
              <a:rPr lang="en-US" dirty="0" smtClean="0">
                <a:sym typeface="Wingdings" pitchFamily="2" charset="2"/>
              </a:rPr>
              <a:t>4 DR  Data Register</a:t>
            </a:r>
          </a:p>
          <a:p>
            <a:r>
              <a:rPr lang="en-US" dirty="0" smtClean="0">
                <a:sym typeface="Wingdings" pitchFamily="2" charset="2"/>
              </a:rPr>
              <a:t>ALU registers</a:t>
            </a:r>
          </a:p>
          <a:p>
            <a:pPr lvl="1"/>
            <a:r>
              <a:rPr lang="en-US" dirty="0" smtClean="0">
                <a:sym typeface="Wingdings" pitchFamily="2" charset="2"/>
              </a:rPr>
              <a:t>1 ALU_A  A operand of ALU</a:t>
            </a:r>
          </a:p>
          <a:p>
            <a:pPr lvl="1"/>
            <a:r>
              <a:rPr lang="en-US" dirty="0" smtClean="0">
                <a:sym typeface="Wingdings" pitchFamily="2" charset="2"/>
              </a:rPr>
              <a:t>2 ALU_B  B operand of ALU</a:t>
            </a:r>
          </a:p>
          <a:p>
            <a:pPr lvl="1"/>
            <a:r>
              <a:rPr lang="en-US" dirty="0" smtClean="0">
                <a:sym typeface="Wingdings" pitchFamily="2" charset="2"/>
              </a:rPr>
              <a:t>3  - 8 Solution register cum buffer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 file</a:t>
            </a:r>
            <a:endParaRPr lang="en-US" dirty="0"/>
          </a:p>
        </p:txBody>
      </p:sp>
      <p:sp>
        <p:nvSpPr>
          <p:cNvPr id="3" name="Content Placeholder 2"/>
          <p:cNvSpPr>
            <a:spLocks noGrp="1"/>
          </p:cNvSpPr>
          <p:nvPr>
            <p:ph idx="1"/>
          </p:nvPr>
        </p:nvSpPr>
        <p:spPr/>
        <p:txBody>
          <a:bodyPr>
            <a:normAutofit lnSpcReduction="10000"/>
          </a:bodyPr>
          <a:lstStyle/>
          <a:p>
            <a:r>
              <a:rPr lang="en-US" dirty="0" smtClean="0"/>
              <a:t>MARH,MARL , CR, ALU_A, ALU_B are the registers that can only be Latched. They can not be read to write to any other register.</a:t>
            </a:r>
          </a:p>
          <a:p>
            <a:r>
              <a:rPr lang="en-US" dirty="0" smtClean="0"/>
              <a:t>Solution register cum buffers are read only registers, they can be enabled on bus but they can not be directly written.</a:t>
            </a:r>
          </a:p>
          <a:p>
            <a:r>
              <a:rPr lang="en-US" dirty="0" smtClean="0"/>
              <a:t>Thus memory bus and control bus on this processor are unidirectional</a:t>
            </a:r>
          </a:p>
          <a:p>
            <a:r>
              <a:rPr lang="en-US" dirty="0" smtClean="0"/>
              <a:t>Data bus is </a:t>
            </a:r>
            <a:r>
              <a:rPr lang="en-US" dirty="0" err="1" smtClean="0"/>
              <a:t>birectional</a:t>
            </a:r>
            <a:r>
              <a:rPr lang="en-US" dirty="0" smtClean="0"/>
              <a: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ALU</a:t>
            </a:r>
            <a:endParaRPr lang="en-US" dirty="0"/>
          </a:p>
        </p:txBody>
      </p:sp>
      <p:sp>
        <p:nvSpPr>
          <p:cNvPr id="3" name="Content Placeholder 2"/>
          <p:cNvSpPr>
            <a:spLocks noGrp="1"/>
          </p:cNvSpPr>
          <p:nvPr>
            <p:ph idx="1"/>
          </p:nvPr>
        </p:nvSpPr>
        <p:spPr/>
        <p:txBody>
          <a:bodyPr/>
          <a:lstStyle/>
          <a:p>
            <a:r>
              <a:rPr lang="en-US" dirty="0" smtClean="0"/>
              <a:t>Operands are ALU_A and ALU_B</a:t>
            </a:r>
          </a:p>
          <a:p>
            <a:r>
              <a:rPr lang="en-US" dirty="0" smtClean="0"/>
              <a:t>Operations that can be presently performed are bitwise binary AND, bit wise binary OR, bit wise binary EX-OR, Left rotate by 1, right rotate by 1, Flags.</a:t>
            </a:r>
          </a:p>
          <a:p>
            <a:r>
              <a:rPr lang="en-US" dirty="0" smtClean="0"/>
              <a:t>Flags are </a:t>
            </a:r>
          </a:p>
          <a:p>
            <a:pPr lvl="1"/>
            <a:r>
              <a:rPr lang="en-US" dirty="0" smtClean="0"/>
              <a:t>A7 = 7</a:t>
            </a:r>
            <a:r>
              <a:rPr lang="en-US" baseline="30000" dirty="0" smtClean="0"/>
              <a:t>th</a:t>
            </a:r>
            <a:r>
              <a:rPr lang="en-US" dirty="0" smtClean="0"/>
              <a:t> bit of ALU_A</a:t>
            </a:r>
          </a:p>
          <a:p>
            <a:pPr lvl="2"/>
            <a:r>
              <a:rPr lang="en-US" dirty="0" smtClean="0"/>
              <a:t>Can be used for signed numbers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ALU flags</a:t>
            </a:r>
            <a:endParaRPr lang="en-US" dirty="0"/>
          </a:p>
        </p:txBody>
      </p:sp>
      <p:sp>
        <p:nvSpPr>
          <p:cNvPr id="3" name="Content Placeholder 2"/>
          <p:cNvSpPr>
            <a:spLocks noGrp="1"/>
          </p:cNvSpPr>
          <p:nvPr>
            <p:ph idx="1"/>
          </p:nvPr>
        </p:nvSpPr>
        <p:spPr/>
        <p:txBody>
          <a:bodyPr/>
          <a:lstStyle/>
          <a:p>
            <a:pPr lvl="1"/>
            <a:r>
              <a:rPr lang="en-US" dirty="0" smtClean="0"/>
              <a:t> &gt; is set if ALU_A is greater than ALU_B</a:t>
            </a:r>
          </a:p>
          <a:p>
            <a:pPr lvl="1"/>
            <a:r>
              <a:rPr lang="en-US" dirty="0" smtClean="0"/>
              <a:t> &lt; is set if ALU_A is lesser than ALU_B</a:t>
            </a:r>
          </a:p>
          <a:p>
            <a:pPr lvl="1"/>
            <a:r>
              <a:rPr lang="en-US" dirty="0" smtClean="0"/>
              <a:t> = is set if ALU_A is equal to ALU_B</a:t>
            </a:r>
          </a:p>
          <a:p>
            <a:pPr lvl="1"/>
            <a:r>
              <a:rPr lang="en-US" dirty="0" smtClean="0"/>
              <a:t>A0 is set if 0</a:t>
            </a:r>
            <a:r>
              <a:rPr lang="en-US" baseline="30000" dirty="0" smtClean="0"/>
              <a:t>th</a:t>
            </a:r>
            <a:r>
              <a:rPr lang="en-US" dirty="0" smtClean="0"/>
              <a:t> bit of ALU_A is set</a:t>
            </a:r>
          </a:p>
          <a:p>
            <a:pPr lvl="2"/>
            <a:r>
              <a:rPr lang="en-US" dirty="0" smtClean="0"/>
              <a:t>Can be used to check if a numbers is odd or even</a:t>
            </a:r>
          </a:p>
          <a:p>
            <a:pPr lvl="1"/>
            <a:r>
              <a:rPr lang="en-US" dirty="0" smtClean="0"/>
              <a:t>Is1 This bit is set if the ALU_A is not 0</a:t>
            </a:r>
          </a:p>
          <a:p>
            <a:pPr lvl="1"/>
            <a:r>
              <a:rPr lang="en-US" dirty="0" err="1" smtClean="0"/>
              <a:t>Ab</a:t>
            </a:r>
            <a:r>
              <a:rPr lang="en-US" dirty="0" smtClean="0"/>
              <a:t> This is a very unique bit it is set if the ALU_B </a:t>
            </a:r>
            <a:r>
              <a:rPr lang="en-US" dirty="0" err="1" smtClean="0"/>
              <a:t>th</a:t>
            </a:r>
            <a:r>
              <a:rPr lang="en-US" dirty="0" smtClean="0"/>
              <a:t> bit is set on ALU_A</a:t>
            </a:r>
          </a:p>
          <a:p>
            <a:pPr lvl="1">
              <a:buNone/>
            </a:pPr>
            <a:endParaRPr lang="en-US"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ALU Flag </a:t>
            </a:r>
            <a:r>
              <a:rPr lang="en-US" dirty="0" err="1" smtClean="0"/>
              <a:t>Ab</a:t>
            </a:r>
            <a:endParaRPr lang="en-US" dirty="0"/>
          </a:p>
        </p:txBody>
      </p:sp>
      <p:sp>
        <p:nvSpPr>
          <p:cNvPr id="3" name="Content Placeholder 2"/>
          <p:cNvSpPr>
            <a:spLocks noGrp="1"/>
          </p:cNvSpPr>
          <p:nvPr>
            <p:ph idx="1"/>
          </p:nvPr>
        </p:nvSpPr>
        <p:spPr/>
        <p:txBody>
          <a:bodyPr/>
          <a:lstStyle/>
          <a:p>
            <a:r>
              <a:rPr lang="en-US" dirty="0" smtClean="0"/>
              <a:t>This flags helps us identify a particular bit in ALU_A, It can be used for sequential multiplication, it can be used to identify a Flag on the Flag register (because the flag register in this architecture is not bit addressable)</a:t>
            </a:r>
          </a:p>
          <a:p>
            <a:r>
              <a:rPr lang="en-US" dirty="0" smtClean="0"/>
              <a:t>Since to set the CONDBIT we require to have Flag register bit always at 0</a:t>
            </a:r>
            <a:r>
              <a:rPr lang="en-US" baseline="30000" dirty="0" smtClean="0"/>
              <a:t>th</a:t>
            </a:r>
            <a:r>
              <a:rPr lang="en-US" dirty="0" smtClean="0"/>
              <a:t> position. </a:t>
            </a:r>
            <a:r>
              <a:rPr lang="en-US" dirty="0" err="1" smtClean="0"/>
              <a:t>Ab</a:t>
            </a:r>
            <a:r>
              <a:rPr lang="en-US" dirty="0" smtClean="0"/>
              <a:t> Flag is at 0</a:t>
            </a:r>
            <a:r>
              <a:rPr lang="en-US" baseline="30000" dirty="0" smtClean="0"/>
              <a:t>th</a:t>
            </a:r>
            <a:r>
              <a:rPr lang="en-US" dirty="0" smtClean="0"/>
              <a:t> position in Flag Register.</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Microcode instruction format</a:t>
            </a:r>
            <a:endParaRPr lang="en-US" dirty="0"/>
          </a:p>
        </p:txBody>
      </p:sp>
      <p:sp>
        <p:nvSpPr>
          <p:cNvPr id="3" name="Content Placeholder 2"/>
          <p:cNvSpPr>
            <a:spLocks noGrp="1"/>
          </p:cNvSpPr>
          <p:nvPr>
            <p:ph idx="1"/>
          </p:nvPr>
        </p:nvSpPr>
        <p:spPr/>
        <p:txBody>
          <a:bodyPr/>
          <a:lstStyle/>
          <a:p>
            <a:r>
              <a:rPr lang="en-US" dirty="0" smtClean="0"/>
              <a:t>Format 0</a:t>
            </a:r>
          </a:p>
          <a:p>
            <a:pPr lvl="1"/>
            <a:r>
              <a:rPr lang="en-US" dirty="0" smtClean="0"/>
              <a:t> XXX RRRRR XX 0 WWWWW</a:t>
            </a:r>
          </a:p>
          <a:p>
            <a:pPr lvl="2"/>
            <a:r>
              <a:rPr lang="en-US" dirty="0" smtClean="0"/>
              <a:t>Here initial 3 X bits are don’t care  </a:t>
            </a:r>
          </a:p>
          <a:p>
            <a:pPr lvl="2"/>
            <a:r>
              <a:rPr lang="en-US" dirty="0" smtClean="0"/>
              <a:t>Next 5 R bits represent which register has be read on the bus (address of registers is always greater than 1)</a:t>
            </a:r>
          </a:p>
          <a:p>
            <a:pPr lvl="2"/>
            <a:r>
              <a:rPr lang="en-US" dirty="0" smtClean="0"/>
              <a:t>Next 2 XX bits are don’t  care</a:t>
            </a:r>
          </a:p>
          <a:p>
            <a:pPr lvl="2"/>
            <a:r>
              <a:rPr lang="en-US" dirty="0" smtClean="0"/>
              <a:t>Next bit 0 has be always set as 0 for format 0</a:t>
            </a:r>
          </a:p>
          <a:p>
            <a:pPr lvl="2"/>
            <a:r>
              <a:rPr lang="en-US" dirty="0" smtClean="0"/>
              <a:t>Next 5 W bits are the register address to which register to write to.</a:t>
            </a:r>
          </a:p>
          <a:p>
            <a:pPr lvl="2">
              <a:buNone/>
            </a:pPr>
            <a:r>
              <a:rPr lang="en-US" dirty="0" smtClean="0"/>
              <a:t>Note (address of registers is always greater than 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Microcode Instruction Format</a:t>
            </a:r>
            <a:endParaRPr lang="en-US" dirty="0"/>
          </a:p>
        </p:txBody>
      </p:sp>
      <p:sp>
        <p:nvSpPr>
          <p:cNvPr id="3" name="Content Placeholder 2"/>
          <p:cNvSpPr>
            <a:spLocks noGrp="1"/>
          </p:cNvSpPr>
          <p:nvPr>
            <p:ph idx="1"/>
          </p:nvPr>
        </p:nvSpPr>
        <p:spPr/>
        <p:txBody>
          <a:bodyPr/>
          <a:lstStyle/>
          <a:p>
            <a:r>
              <a:rPr lang="en-US" dirty="0" smtClean="0"/>
              <a:t>Format 1</a:t>
            </a:r>
          </a:p>
          <a:p>
            <a:pPr lvl="1"/>
            <a:r>
              <a:rPr lang="en-US" dirty="0" smtClean="0"/>
              <a:t> IIIIIIII YY1 WWWWW</a:t>
            </a:r>
          </a:p>
          <a:p>
            <a:pPr lvl="2"/>
            <a:r>
              <a:rPr lang="en-US" dirty="0" smtClean="0"/>
              <a:t>First 8 I bits represent Immediate value.</a:t>
            </a:r>
          </a:p>
          <a:p>
            <a:pPr lvl="2"/>
            <a:r>
              <a:rPr lang="en-US" dirty="0" smtClean="0"/>
              <a:t>Next YY bits are don’t care</a:t>
            </a:r>
          </a:p>
          <a:p>
            <a:pPr lvl="2"/>
            <a:r>
              <a:rPr lang="en-US" dirty="0" smtClean="0"/>
              <a:t>Next single bit represents the format 1</a:t>
            </a:r>
          </a:p>
          <a:p>
            <a:pPr lvl="2"/>
            <a:r>
              <a:rPr lang="en-US" dirty="0" smtClean="0"/>
              <a:t>Next 5 W bits represent the address the data has to be written to.</a:t>
            </a:r>
          </a:p>
          <a:p>
            <a:pPr>
              <a:buNone/>
            </a:pPr>
            <a:endParaRPr lang="en-US"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Microcode instruction Format</a:t>
            </a:r>
            <a:endParaRPr lang="en-US" dirty="0"/>
          </a:p>
        </p:txBody>
      </p:sp>
      <p:sp>
        <p:nvSpPr>
          <p:cNvPr id="3" name="Content Placeholder 2"/>
          <p:cNvSpPr>
            <a:spLocks noGrp="1"/>
          </p:cNvSpPr>
          <p:nvPr>
            <p:ph idx="1"/>
          </p:nvPr>
        </p:nvSpPr>
        <p:spPr/>
        <p:txBody>
          <a:bodyPr/>
          <a:lstStyle/>
          <a:p>
            <a:r>
              <a:rPr lang="en-US" dirty="0" smtClean="0"/>
              <a:t>Jump instructions</a:t>
            </a:r>
          </a:p>
          <a:p>
            <a:pPr lvl="1"/>
            <a:r>
              <a:rPr lang="en-US" dirty="0" smtClean="0"/>
              <a:t>They are similar to instructions</a:t>
            </a:r>
          </a:p>
          <a:p>
            <a:pPr lvl="1"/>
            <a:r>
              <a:rPr lang="en-US" dirty="0" smtClean="0"/>
              <a:t>Here unconditional jump is represented by W (write address) = 22 decimal</a:t>
            </a:r>
          </a:p>
          <a:p>
            <a:pPr lvl="1"/>
            <a:r>
              <a:rPr lang="en-US" dirty="0" smtClean="0"/>
              <a:t>Conditional jump is represented by W (write address) = 23 decimal</a:t>
            </a:r>
          </a:p>
          <a:p>
            <a:pPr lvl="1"/>
            <a:r>
              <a:rPr lang="en-US" dirty="0" smtClean="0"/>
              <a:t>Conditional bit CONDBIT can only be written and not read, its address is 21 decimal</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JUMP ADDRESS</a:t>
            </a:r>
            <a:endParaRPr lang="en-US" dirty="0"/>
          </a:p>
        </p:txBody>
      </p:sp>
      <p:sp>
        <p:nvSpPr>
          <p:cNvPr id="3" name="Content Placeholder 2"/>
          <p:cNvSpPr>
            <a:spLocks noGrp="1"/>
          </p:cNvSpPr>
          <p:nvPr>
            <p:ph idx="1"/>
          </p:nvPr>
        </p:nvSpPr>
        <p:spPr/>
        <p:txBody>
          <a:bodyPr>
            <a:normAutofit lnSpcReduction="10000"/>
          </a:bodyPr>
          <a:lstStyle/>
          <a:p>
            <a:r>
              <a:rPr lang="en-US" dirty="0" smtClean="0"/>
              <a:t>Microcode instruction address width is 11 bits.</a:t>
            </a:r>
          </a:p>
          <a:p>
            <a:r>
              <a:rPr lang="en-US" dirty="0" smtClean="0"/>
              <a:t>Since every instruction starts at even address only we can neglect the last bit , thus we have now only 10 bits of Microcode address bit to handle.</a:t>
            </a:r>
          </a:p>
          <a:p>
            <a:r>
              <a:rPr lang="en-US" dirty="0" smtClean="0"/>
              <a:t>The Lower 8 bits of address can come from either immediate value in microcode, or from a register, while the mist significant 2 address bits only come as immediate value.</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JUMP address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Instruction format can be any of 0 or 1</a:t>
            </a:r>
          </a:p>
          <a:p>
            <a:pPr>
              <a:buNone/>
            </a:pPr>
            <a:r>
              <a:rPr lang="en-US" dirty="0" smtClean="0"/>
              <a:t>	MMMMMMMM   YY L  WWWWW</a:t>
            </a:r>
          </a:p>
          <a:p>
            <a:pPr>
              <a:buNone/>
            </a:pPr>
            <a:r>
              <a:rPr lang="en-US" dirty="0" smtClean="0"/>
              <a:t>		here M is either read address or Immediate value, L is either 0 or 1 based on presence of register address or Immediate value.</a:t>
            </a:r>
          </a:p>
          <a:p>
            <a:pPr>
              <a:buNone/>
            </a:pPr>
            <a:r>
              <a:rPr lang="en-US" dirty="0" smtClean="0"/>
              <a:t>	YY here represent 2 most significant bits on the jump address if and only if WWWWW  is equal to 22 (unconditional jump) or 23 (conditional jump)</a:t>
            </a:r>
          </a:p>
          <a:p>
            <a:r>
              <a:rPr lang="en-US" dirty="0" smtClean="0"/>
              <a:t>Bits YY have no influence on Internal data bus or any of registers.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operations can be performed ?</a:t>
            </a:r>
            <a:endParaRPr lang="en-US" dirty="0"/>
          </a:p>
        </p:txBody>
      </p:sp>
      <p:sp>
        <p:nvSpPr>
          <p:cNvPr id="3" name="Content Placeholder 2"/>
          <p:cNvSpPr>
            <a:spLocks noGrp="1"/>
          </p:cNvSpPr>
          <p:nvPr>
            <p:ph idx="1"/>
          </p:nvPr>
        </p:nvSpPr>
        <p:spPr/>
        <p:txBody>
          <a:bodyPr/>
          <a:lstStyle/>
          <a:p>
            <a:r>
              <a:rPr lang="en-US" dirty="0" smtClean="0"/>
              <a:t>Pretty much any thing</a:t>
            </a:r>
          </a:p>
          <a:p>
            <a:pPr lvl="1"/>
            <a:r>
              <a:rPr lang="en-US" dirty="0" smtClean="0"/>
              <a:t>There is Hardware in ALU for AND – 7408s, OR – 7432s and EX-OR – 7486s, left rotate by 1 , right rotate by 1, and flags as </a:t>
            </a:r>
            <a:r>
              <a:rPr lang="en-US" dirty="0" err="1" smtClean="0"/>
              <a:t>mentiond</a:t>
            </a:r>
            <a:r>
              <a:rPr lang="en-US" dirty="0" smtClean="0"/>
              <a:t>.</a:t>
            </a:r>
          </a:p>
          <a:p>
            <a:pPr lvl="1"/>
            <a:r>
              <a:rPr lang="en-US" dirty="0" smtClean="0"/>
              <a:t>Flags can help in jump, </a:t>
            </a:r>
            <a:r>
              <a:rPr lang="en-US" dirty="0" err="1" smtClean="0"/>
              <a:t>Ab</a:t>
            </a:r>
            <a:r>
              <a:rPr lang="en-US" dirty="0" smtClean="0"/>
              <a:t> flag can help in jumps and multiplication, multiple Left rotate and bit masking with AND </a:t>
            </a:r>
            <a:r>
              <a:rPr lang="en-US" dirty="0" err="1" smtClean="0"/>
              <a:t>and</a:t>
            </a:r>
            <a:r>
              <a:rPr lang="en-US" dirty="0" smtClean="0"/>
              <a:t> OR can give left shift</a:t>
            </a:r>
            <a:br>
              <a:rPr lang="en-US" dirty="0" smtClean="0"/>
            </a:br>
            <a:r>
              <a:rPr lang="en-US" dirty="0" smtClean="0"/>
              <a:t>similarly right rotate can give right shift.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a:t>
            </a:r>
            <a:endParaRPr lang="en-US" dirty="0"/>
          </a:p>
        </p:txBody>
      </p:sp>
      <p:sp>
        <p:nvSpPr>
          <p:cNvPr id="3" name="Content Placeholder 2"/>
          <p:cNvSpPr>
            <a:spLocks noGrp="1"/>
          </p:cNvSpPr>
          <p:nvPr>
            <p:ph idx="1"/>
          </p:nvPr>
        </p:nvSpPr>
        <p:spPr/>
        <p:txBody>
          <a:bodyPr/>
          <a:lstStyle/>
          <a:p>
            <a:r>
              <a:rPr lang="en-US" dirty="0" smtClean="0"/>
              <a:t>Presently 2^16 X 8 bit memory can be directly addressed using paging on the remaining 4 bits on control register 16 pages can be established. (other than I/O read/write and MEM read/write)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program ?</a:t>
            </a:r>
            <a:endParaRPr lang="en-US" dirty="0"/>
          </a:p>
        </p:txBody>
      </p:sp>
      <p:sp>
        <p:nvSpPr>
          <p:cNvPr id="3" name="Content Placeholder 2"/>
          <p:cNvSpPr>
            <a:spLocks noGrp="1"/>
          </p:cNvSpPr>
          <p:nvPr>
            <p:ph idx="1"/>
          </p:nvPr>
        </p:nvSpPr>
        <p:spPr/>
        <p:txBody>
          <a:bodyPr/>
          <a:lstStyle/>
          <a:p>
            <a:r>
              <a:rPr lang="en-US" dirty="0" smtClean="0"/>
              <a:t>Presently There is no Instruction set programmed in the microcode. (That will be done later).</a:t>
            </a:r>
          </a:p>
          <a:p>
            <a:r>
              <a:rPr lang="en-US" dirty="0" smtClean="0"/>
              <a:t>I have made a Micro assembler for programming the Microcode, we can write small programs using it.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Example Microcode</a:t>
            </a:r>
            <a:endParaRPr lang="en-US" dirty="0"/>
          </a:p>
        </p:txBody>
      </p:sp>
      <p:sp>
        <p:nvSpPr>
          <p:cNvPr id="3" name="Content Placeholder 2"/>
          <p:cNvSpPr>
            <a:spLocks noGrp="1"/>
          </p:cNvSpPr>
          <p:nvPr>
            <p:ph idx="1"/>
          </p:nvPr>
        </p:nvSpPr>
        <p:spPr>
          <a:xfrm>
            <a:off x="457200" y="1371600"/>
            <a:ext cx="8229600" cy="4754563"/>
          </a:xfrm>
        </p:spPr>
        <p:txBody>
          <a:bodyPr>
            <a:normAutofit fontScale="77500" lnSpcReduction="20000"/>
          </a:bodyPr>
          <a:lstStyle/>
          <a:p>
            <a:r>
              <a:rPr lang="en-US" dirty="0" smtClean="0"/>
              <a:t>Open the code.txt file and observe.</a:t>
            </a:r>
          </a:p>
          <a:p>
            <a:r>
              <a:rPr lang="en-US" dirty="0" smtClean="0"/>
              <a:t>The macro keywords are always written in {} braces, they should not be changed. They represent Microcode decoder connections.</a:t>
            </a:r>
          </a:p>
          <a:p>
            <a:r>
              <a:rPr lang="en-US" dirty="0" smtClean="0"/>
              <a:t>After that write your program using keyword that you defined in the braces.</a:t>
            </a:r>
          </a:p>
          <a:p>
            <a:r>
              <a:rPr lang="en-US" dirty="0" smtClean="0"/>
              <a:t>Keyword1 Keyword2 </a:t>
            </a:r>
          </a:p>
          <a:p>
            <a:pPr>
              <a:buNone/>
            </a:pPr>
            <a:r>
              <a:rPr lang="en-US" dirty="0" smtClean="0"/>
              <a:t>		 represents data transfer from keyword 1 to keyword2</a:t>
            </a:r>
          </a:p>
          <a:p>
            <a:r>
              <a:rPr lang="en-US" dirty="0" smtClean="0"/>
              <a:t>Keyword1 </a:t>
            </a:r>
            <a:r>
              <a:rPr lang="en-US" dirty="0" err="1" smtClean="0"/>
              <a:t>i</a:t>
            </a:r>
            <a:r>
              <a:rPr lang="en-US" dirty="0" smtClean="0"/>
              <a:t> Keyword2 </a:t>
            </a:r>
          </a:p>
          <a:p>
            <a:pPr>
              <a:buNone/>
            </a:pPr>
            <a:r>
              <a:rPr lang="en-US" dirty="0" smtClean="0"/>
              <a:t>		represents immediate data taken as keyword to write to keyword2 register.</a:t>
            </a:r>
          </a:p>
          <a:p>
            <a:r>
              <a:rPr lang="en-US" dirty="0" smtClean="0"/>
              <a:t>(some decimal or binary number) </a:t>
            </a:r>
            <a:r>
              <a:rPr lang="en-US" dirty="0" err="1" smtClean="0"/>
              <a:t>i</a:t>
            </a:r>
            <a:r>
              <a:rPr lang="en-US" dirty="0" smtClean="0"/>
              <a:t> Keyword2</a:t>
            </a:r>
          </a:p>
          <a:p>
            <a:pPr lvl="2">
              <a:buNone/>
            </a:pPr>
            <a:r>
              <a:rPr lang="en-US" sz="2600" dirty="0" smtClean="0"/>
              <a:t>Represents immediate value to be written to keyword 2 address</a:t>
            </a:r>
            <a:endParaRPr lang="en-US" sz="2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get hex file from the </a:t>
            </a:r>
            <a:r>
              <a:rPr lang="en-US" dirty="0" err="1" smtClean="0"/>
              <a:t>Microassembly</a:t>
            </a:r>
            <a:r>
              <a:rPr lang="en-US" dirty="0" smtClean="0"/>
              <a:t> Language ?</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It can be assembled to binary by command</a:t>
            </a:r>
          </a:p>
          <a:p>
            <a:pPr>
              <a:buNone/>
            </a:pPr>
            <a:r>
              <a:rPr lang="en-US" dirty="0" smtClean="0"/>
              <a:t>	</a:t>
            </a:r>
            <a:r>
              <a:rPr lang="en-US" dirty="0" err="1" smtClean="0"/>
              <a:t>RDXasm</a:t>
            </a:r>
            <a:r>
              <a:rPr lang="en-US" dirty="0" smtClean="0"/>
              <a:t> &lt;</a:t>
            </a:r>
            <a:r>
              <a:rPr lang="en-US" dirty="0" err="1" smtClean="0"/>
              <a:t>codefilename</a:t>
            </a:r>
            <a:r>
              <a:rPr lang="en-US" dirty="0" smtClean="0"/>
              <a:t>&gt;.txt &lt;</a:t>
            </a:r>
            <a:r>
              <a:rPr lang="en-US" dirty="0" err="1" smtClean="0"/>
              <a:t>hexfilename</a:t>
            </a:r>
            <a:r>
              <a:rPr lang="en-US" dirty="0" smtClean="0"/>
              <a:t>&gt;</a:t>
            </a:r>
          </a:p>
          <a:p>
            <a:r>
              <a:rPr lang="en-US" dirty="0" smtClean="0"/>
              <a:t>This will generate a &lt;</a:t>
            </a:r>
            <a:r>
              <a:rPr lang="en-US" dirty="0" err="1" smtClean="0"/>
              <a:t>hexfilename</a:t>
            </a:r>
            <a:r>
              <a:rPr lang="en-US" dirty="0" smtClean="0"/>
              <a:t>&gt;.</a:t>
            </a:r>
            <a:r>
              <a:rPr lang="en-US" dirty="0" err="1" smtClean="0"/>
              <a:t>RDXuasm</a:t>
            </a:r>
            <a:endParaRPr lang="en-US" dirty="0" smtClean="0"/>
          </a:p>
          <a:p>
            <a:pPr>
              <a:buNone/>
            </a:pPr>
            <a:r>
              <a:rPr lang="en-US" dirty="0" smtClean="0"/>
              <a:t>	that you can open to see the </a:t>
            </a:r>
            <a:r>
              <a:rPr lang="en-US" dirty="0" err="1" smtClean="0"/>
              <a:t>hexcode</a:t>
            </a:r>
            <a:r>
              <a:rPr lang="en-US" dirty="0" smtClean="0"/>
              <a:t>.</a:t>
            </a:r>
          </a:p>
          <a:p>
            <a:r>
              <a:rPr lang="en-US" dirty="0" smtClean="0"/>
              <a:t>We can test the program by command </a:t>
            </a:r>
            <a:r>
              <a:rPr lang="en-US" dirty="0" err="1" smtClean="0"/>
              <a:t>command</a:t>
            </a:r>
            <a:endParaRPr lang="en-US" dirty="0" smtClean="0"/>
          </a:p>
          <a:p>
            <a:pPr>
              <a:buNone/>
            </a:pPr>
            <a:r>
              <a:rPr lang="en-US" dirty="0" smtClean="0"/>
              <a:t>	test &lt;</a:t>
            </a:r>
            <a:r>
              <a:rPr lang="en-US" dirty="0" err="1" smtClean="0"/>
              <a:t>hexfilename</a:t>
            </a:r>
            <a:r>
              <a:rPr lang="en-US" dirty="0" smtClean="0"/>
              <a:t>&gt;</a:t>
            </a:r>
          </a:p>
          <a:p>
            <a:r>
              <a:rPr lang="en-US" dirty="0" smtClean="0"/>
              <a:t>Or I have made a programmer to programmer to program the ROM </a:t>
            </a:r>
            <a:br>
              <a:rPr lang="en-US" dirty="0" smtClean="0"/>
            </a:br>
            <a:r>
              <a:rPr lang="en-US" dirty="0" err="1" smtClean="0"/>
              <a:t>prog</a:t>
            </a:r>
            <a:r>
              <a:rPr lang="en-US" dirty="0" smtClean="0"/>
              <a:t> &lt;</a:t>
            </a:r>
            <a:r>
              <a:rPr lang="en-US" dirty="0" err="1" smtClean="0"/>
              <a:t>hexfilename</a:t>
            </a:r>
            <a:r>
              <a:rPr lang="en-US" dirty="0" smtClean="0"/>
              <a:t>&gt;</a:t>
            </a:r>
          </a:p>
          <a:p>
            <a:r>
              <a:rPr lang="en-US" dirty="0" smtClean="0"/>
              <a:t>Then by pressing the button the microcode can be run.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Limitations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There are a lot of limitations because of cost preferences, The aim had been to be make a realizable processor for self understanding and knowledge.</a:t>
            </a:r>
          </a:p>
          <a:p>
            <a:r>
              <a:rPr lang="en-US" dirty="0" smtClean="0"/>
              <a:t>Vertical </a:t>
            </a:r>
            <a:r>
              <a:rPr lang="en-US" dirty="0" err="1" smtClean="0"/>
              <a:t>microcoding</a:t>
            </a:r>
            <a:r>
              <a:rPr lang="en-US" dirty="0" smtClean="0"/>
              <a:t> processor takes up a cycle for decoding time hence execution time.</a:t>
            </a:r>
            <a:br>
              <a:rPr lang="en-US" dirty="0" smtClean="0"/>
            </a:br>
            <a:r>
              <a:rPr lang="en-US" dirty="0" smtClean="0"/>
              <a:t>Vertical </a:t>
            </a:r>
            <a:r>
              <a:rPr lang="en-US" dirty="0" err="1" smtClean="0"/>
              <a:t>microcoding</a:t>
            </a:r>
            <a:r>
              <a:rPr lang="en-US" dirty="0" smtClean="0"/>
              <a:t> enables smaller </a:t>
            </a:r>
            <a:r>
              <a:rPr lang="en-US" dirty="0" err="1" smtClean="0"/>
              <a:t>databus</a:t>
            </a:r>
            <a:r>
              <a:rPr lang="en-US" dirty="0" smtClean="0"/>
              <a:t> width for ROM.</a:t>
            </a:r>
          </a:p>
          <a:p>
            <a:r>
              <a:rPr lang="en-US" dirty="0" smtClean="0"/>
              <a:t>Data is fetched byte by byte for a 16 bit microinstruction to be executed, With an addition of 1 more ROM we can reduce fetch time to 1/3.</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Limitations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Microinstruction execution can be easily pipelined, for all of the 5 stages like.</a:t>
            </a:r>
          </a:p>
          <a:p>
            <a:pPr lvl="1"/>
            <a:r>
              <a:rPr lang="en-US" dirty="0" smtClean="0"/>
              <a:t>1. even data latch</a:t>
            </a:r>
          </a:p>
          <a:p>
            <a:pPr lvl="1"/>
            <a:r>
              <a:rPr lang="en-US" dirty="0" smtClean="0"/>
              <a:t>2. odd data fetch </a:t>
            </a:r>
          </a:p>
          <a:p>
            <a:pPr lvl="1"/>
            <a:r>
              <a:rPr lang="en-US" dirty="0" smtClean="0"/>
              <a:t>3. odd data latch</a:t>
            </a:r>
          </a:p>
          <a:p>
            <a:pPr lvl="1"/>
            <a:r>
              <a:rPr lang="en-US" dirty="0" smtClean="0"/>
              <a:t>4. execute</a:t>
            </a:r>
          </a:p>
          <a:p>
            <a:pPr lvl="1"/>
            <a:r>
              <a:rPr lang="en-US" dirty="0" smtClean="0"/>
              <a:t>5. even data fetch of next instruction</a:t>
            </a:r>
          </a:p>
          <a:p>
            <a:r>
              <a:rPr lang="en-US" dirty="0" smtClean="0"/>
              <a:t>So we can possibly pipeline as </a:t>
            </a:r>
          </a:p>
          <a:p>
            <a:pPr lvl="1"/>
            <a:r>
              <a:rPr lang="en-US" dirty="0" smtClean="0"/>
              <a:t>  5     1     2      3     4</a:t>
            </a:r>
          </a:p>
          <a:p>
            <a:pPr lvl="1"/>
            <a:r>
              <a:rPr lang="en-US" dirty="0" smtClean="0"/>
              <a:t>          5    1      2     3      4</a:t>
            </a:r>
          </a:p>
          <a:p>
            <a:pPr lvl="1"/>
            <a:r>
              <a:rPr lang="en-US" dirty="0" smtClean="0"/>
              <a:t>                                5      1     2      3      4</a:t>
            </a:r>
          </a:p>
          <a:p>
            <a:pPr lvl="1"/>
            <a:r>
              <a:rPr lang="en-US" dirty="0" smtClean="0"/>
              <a:t>                                         5     1      2      3      4 </a:t>
            </a:r>
          </a:p>
          <a:p>
            <a:pPr lvl="1">
              <a:buNone/>
            </a:pPr>
            <a:r>
              <a:rPr lang="en-US" dirty="0" smtClean="0"/>
              <a:t>Only colliding instruction are 5 and 2, such pipelining can be easily implemented by more complex </a:t>
            </a:r>
            <a:r>
              <a:rPr lang="en-US" dirty="0" smtClean="0"/>
              <a:t>sequencer    </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Limitations</a:t>
            </a:r>
            <a:endParaRPr lang="en-US" dirty="0"/>
          </a:p>
        </p:txBody>
      </p:sp>
      <p:sp>
        <p:nvSpPr>
          <p:cNvPr id="3" name="Content Placeholder 2"/>
          <p:cNvSpPr>
            <a:spLocks noGrp="1"/>
          </p:cNvSpPr>
          <p:nvPr>
            <p:ph idx="1"/>
          </p:nvPr>
        </p:nvSpPr>
        <p:spPr/>
        <p:txBody>
          <a:bodyPr>
            <a:normAutofit fontScale="92500"/>
          </a:bodyPr>
          <a:lstStyle/>
          <a:p>
            <a:r>
              <a:rPr lang="en-US" dirty="0" smtClean="0"/>
              <a:t>Due to Single bus architecture, </a:t>
            </a:r>
            <a:r>
              <a:rPr lang="en-US" dirty="0" smtClean="0"/>
              <a:t>It </a:t>
            </a:r>
            <a:r>
              <a:rPr lang="en-US" dirty="0" smtClean="0"/>
              <a:t>has no separate Bus control unit, hence there can not be pipelining at macro instruction level. (after the instruction set is defined in ROM).hence inherently slower than pipelined processor.</a:t>
            </a:r>
          </a:p>
          <a:p>
            <a:r>
              <a:rPr lang="en-US" dirty="0" smtClean="0"/>
              <a:t>The ALU is insufficient, Example There is a Macro instruction set defined and has to be implemented, Here now even the addition of PC or IP takes a </a:t>
            </a:r>
            <a:r>
              <a:rPr lang="en-US" dirty="0" err="1" smtClean="0"/>
              <a:t>multicycle</a:t>
            </a:r>
            <a:r>
              <a:rPr lang="en-US" dirty="0" smtClean="0"/>
              <a:t> approach hence slow.</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Limitations</a:t>
            </a:r>
            <a:endParaRPr lang="en-US" dirty="0"/>
          </a:p>
        </p:txBody>
      </p:sp>
      <p:sp>
        <p:nvSpPr>
          <p:cNvPr id="3" name="Content Placeholder 2"/>
          <p:cNvSpPr>
            <a:spLocks noGrp="1"/>
          </p:cNvSpPr>
          <p:nvPr>
            <p:ph idx="1"/>
          </p:nvPr>
        </p:nvSpPr>
        <p:spPr/>
        <p:txBody>
          <a:bodyPr>
            <a:normAutofit lnSpcReduction="10000"/>
          </a:bodyPr>
          <a:lstStyle/>
          <a:p>
            <a:r>
              <a:rPr lang="en-US" dirty="0" smtClean="0"/>
              <a:t>There is no internal hardware based stack for microcode jumps hence difficulty in managing recursion at microcode level, and hence difficulty in programming microcode for large instruction sets.</a:t>
            </a:r>
          </a:p>
          <a:p>
            <a:r>
              <a:rPr lang="en-US" dirty="0" smtClean="0"/>
              <a:t>The processor Does not have any I/O right now, human interface not possible, There is also no interrupt hardware provision.</a:t>
            </a:r>
          </a:p>
          <a:p>
            <a:r>
              <a:rPr lang="en-US" dirty="0" smtClean="0"/>
              <a:t>There is no halt instruction in the microcode.</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Future improvements to be implemented</a:t>
            </a:r>
            <a:endParaRPr lang="en-US" dirty="0"/>
          </a:p>
        </p:txBody>
      </p:sp>
      <p:sp>
        <p:nvSpPr>
          <p:cNvPr id="3" name="Content Placeholder 2"/>
          <p:cNvSpPr>
            <a:spLocks noGrp="1"/>
          </p:cNvSpPr>
          <p:nvPr>
            <p:ph idx="1"/>
          </p:nvPr>
        </p:nvSpPr>
        <p:spPr>
          <a:xfrm>
            <a:off x="457200" y="1600200"/>
            <a:ext cx="8229600" cy="5029200"/>
          </a:xfrm>
        </p:spPr>
        <p:txBody>
          <a:bodyPr>
            <a:normAutofit fontScale="77500" lnSpcReduction="20000"/>
          </a:bodyPr>
          <a:lstStyle/>
          <a:p>
            <a:r>
              <a:rPr lang="en-US" dirty="0" err="1" smtClean="0"/>
              <a:t>Effeciency</a:t>
            </a:r>
            <a:r>
              <a:rPr lang="en-US" dirty="0" smtClean="0"/>
              <a:t> of Microcode fetching to be </a:t>
            </a:r>
            <a:r>
              <a:rPr lang="en-US" dirty="0" err="1" smtClean="0"/>
              <a:t>inproved</a:t>
            </a:r>
            <a:r>
              <a:rPr lang="en-US" dirty="0" smtClean="0"/>
              <a:t> by using 2 EEPROMs  of 8 bit data width or 1 EEPROM of 16 bit Data width, Along with pipelining at microcode level to </a:t>
            </a:r>
            <a:r>
              <a:rPr lang="en-US" dirty="0" smtClean="0"/>
              <a:t>decrease CPI and hence increase </a:t>
            </a:r>
            <a:r>
              <a:rPr lang="en-US" dirty="0" err="1" smtClean="0"/>
              <a:t>effeciency</a:t>
            </a:r>
            <a:r>
              <a:rPr lang="en-US" smtClean="0"/>
              <a:t>.</a:t>
            </a:r>
            <a:endParaRPr lang="en-US" smtClean="0"/>
          </a:p>
          <a:p>
            <a:r>
              <a:rPr lang="en-US" dirty="0" smtClean="0"/>
              <a:t>Implementation </a:t>
            </a:r>
            <a:r>
              <a:rPr lang="en-US" dirty="0" smtClean="0"/>
              <a:t>of pipelining at microcode by redesigning microcode sequencer.</a:t>
            </a:r>
          </a:p>
          <a:p>
            <a:r>
              <a:rPr lang="en-US" dirty="0" smtClean="0"/>
              <a:t>Provide ALU operations for addition and </a:t>
            </a:r>
            <a:r>
              <a:rPr lang="en-US" dirty="0" err="1" smtClean="0"/>
              <a:t>substraction</a:t>
            </a:r>
            <a:r>
              <a:rPr lang="en-US" dirty="0" smtClean="0"/>
              <a:t>, and extra registers for ALU based instruction set decoding.</a:t>
            </a:r>
          </a:p>
          <a:p>
            <a:r>
              <a:rPr lang="en-US" dirty="0" smtClean="0"/>
              <a:t>Implement hardware based stack/queue/map for microcode jumps enabling to program complex instruction set decoding for emulation of large complex instruction sets like that of x86.</a:t>
            </a:r>
          </a:p>
          <a:p>
            <a:r>
              <a:rPr lang="en-US" dirty="0" smtClean="0"/>
              <a:t>Provide Support for in System re programming of Control memory, by replacing ROM with a SRAM, that gets programmed by another primary control ROM during boot.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Future improvements to be implemented</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Provide I/O support for </a:t>
            </a:r>
            <a:r>
              <a:rPr lang="en-US" dirty="0" err="1" smtClean="0"/>
              <a:t>atleast</a:t>
            </a:r>
            <a:r>
              <a:rPr lang="en-US" dirty="0" smtClean="0"/>
              <a:t> 2 ports, 16x4 character based LED screen, for well known interfaces like I2C, SPI and USB.</a:t>
            </a:r>
          </a:p>
          <a:p>
            <a:r>
              <a:rPr lang="en-US" dirty="0" smtClean="0"/>
              <a:t>Implement a small RISC instruction set to the microcode of processor, set up C compiler for it.</a:t>
            </a:r>
          </a:p>
          <a:p>
            <a:r>
              <a:rPr lang="en-US" dirty="0" smtClean="0"/>
              <a:t>Implement BIOS routines, and a SD card support for the system.</a:t>
            </a:r>
          </a:p>
          <a:p>
            <a:r>
              <a:rPr lang="en-US" dirty="0" smtClean="0"/>
              <a:t>Make provision for Cluster bus system, So that a by connecting multiple processors, Cluster computer can be made.</a:t>
            </a:r>
          </a:p>
          <a:p>
            <a:endParaRPr lang="en-US" dirty="0" smtClean="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Applications That this Final design promises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Cluster Computers.</a:t>
            </a:r>
          </a:p>
          <a:p>
            <a:r>
              <a:rPr lang="en-US" dirty="0" smtClean="0"/>
              <a:t>Since the processor inherently uses </a:t>
            </a:r>
            <a:r>
              <a:rPr lang="en-US" dirty="0" err="1" smtClean="0"/>
              <a:t>multicycle</a:t>
            </a:r>
            <a:r>
              <a:rPr lang="en-US" dirty="0" smtClean="0"/>
              <a:t> approach, </a:t>
            </a:r>
            <a:r>
              <a:rPr lang="en-US" dirty="0" err="1" smtClean="0"/>
              <a:t>custered</a:t>
            </a:r>
            <a:r>
              <a:rPr lang="en-US" dirty="0" smtClean="0"/>
              <a:t> computer can provide a </a:t>
            </a:r>
            <a:r>
              <a:rPr lang="en-US" dirty="0" err="1" smtClean="0"/>
              <a:t>pipelineing</a:t>
            </a:r>
            <a:r>
              <a:rPr lang="en-US" dirty="0" smtClean="0"/>
              <a:t> support and parallel computing. Such clusters can be used as building blocks for super scalar Computers.</a:t>
            </a:r>
          </a:p>
          <a:p>
            <a:r>
              <a:rPr lang="en-US" dirty="0" smtClean="0"/>
              <a:t>The processor provides provision for Programmable Control ROM hence instruction set emulation can be done.(Microcode of many presently available are either proprietary or in accessible by high level programmer)</a:t>
            </a:r>
          </a:p>
          <a:p>
            <a:r>
              <a:rPr lang="en-US" dirty="0" smtClean="0"/>
              <a:t>Instruction set emulation can provide software Compatibility.</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TotalTime>
  <Words>1778</Words>
  <Application>Microsoft Office PowerPoint</Application>
  <PresentationFormat>On-screen Show (4:3)</PresentationFormat>
  <Paragraphs>175</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Design of processor</vt:lpstr>
      <vt:lpstr>Request </vt:lpstr>
      <vt:lpstr>Classification</vt:lpstr>
      <vt:lpstr>Classification</vt:lpstr>
      <vt:lpstr>Classification</vt:lpstr>
      <vt:lpstr>Modules</vt:lpstr>
      <vt:lpstr>Microcode counter</vt:lpstr>
      <vt:lpstr>Microcode ROM</vt:lpstr>
      <vt:lpstr>Microcode Decoder unit</vt:lpstr>
      <vt:lpstr>Microcode Decoder unit</vt:lpstr>
      <vt:lpstr>Microcode Sequencer</vt:lpstr>
      <vt:lpstr>Register file</vt:lpstr>
      <vt:lpstr>Register file</vt:lpstr>
      <vt:lpstr>ALU</vt:lpstr>
      <vt:lpstr>ALU flags</vt:lpstr>
      <vt:lpstr>ALU Flag Ab</vt:lpstr>
      <vt:lpstr>Microcode instruction format</vt:lpstr>
      <vt:lpstr>Microcode Instruction Format</vt:lpstr>
      <vt:lpstr>Microcode instruction Format</vt:lpstr>
      <vt:lpstr>JUMP ADDRESS</vt:lpstr>
      <vt:lpstr>JUMP address</vt:lpstr>
      <vt:lpstr>What operations can be performed ?</vt:lpstr>
      <vt:lpstr>Memory</vt:lpstr>
      <vt:lpstr>How to program ?</vt:lpstr>
      <vt:lpstr>Example Microcode</vt:lpstr>
      <vt:lpstr>How to get hex file from the Microassembly Language ?</vt:lpstr>
      <vt:lpstr> Limitations</vt:lpstr>
      <vt:lpstr>Limitations</vt:lpstr>
      <vt:lpstr>Limitations</vt:lpstr>
      <vt:lpstr>Limitations</vt:lpstr>
      <vt:lpstr>Future improvements to be implemented</vt:lpstr>
      <vt:lpstr>Future improvements to be implemented</vt:lpstr>
      <vt:lpstr>Applications That this Final design promises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of processor</dc:title>
  <dc:creator>Rohan Dvivedi</dc:creator>
  <cp:lastModifiedBy>devshri</cp:lastModifiedBy>
  <cp:revision>49</cp:revision>
  <dcterms:created xsi:type="dcterms:W3CDTF">2006-08-16T00:00:00Z</dcterms:created>
  <dcterms:modified xsi:type="dcterms:W3CDTF">2017-03-04T13:18:40Z</dcterms:modified>
</cp:coreProperties>
</file>